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Hébergement (MAD)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An1 2026</c:v>
                </c:pt>
                <c:pt idx="1">
                  <c:v>An2 2027</c:v>
                </c:pt>
                <c:pt idx="2">
                  <c:v>An3 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2845440</c:v>
                </c:pt>
                <c:pt idx="1">
                  <c:v>2973352</c:v>
                </c:pt>
                <c:pt idx="2">
                  <c:v>3061326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54-AF4B-9026-2474204F2B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Restauration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An1 2026</c:v>
                </c:pt>
                <c:pt idx="1">
                  <c:v>An2 2027</c:v>
                </c:pt>
                <c:pt idx="2">
                  <c:v>An3 2028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284544</c:v>
                </c:pt>
                <c:pt idx="1">
                  <c:v>297335</c:v>
                </c:pt>
                <c:pt idx="2">
                  <c:v>306132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54-AF4B-9026-2474204F2B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Spa &amp; Hammam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An1 2026</c:v>
                </c:pt>
                <c:pt idx="1">
                  <c:v>An2 2027</c:v>
                </c:pt>
                <c:pt idx="2">
                  <c:v>An3 2028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297335</c:v>
                </c:pt>
                <c:pt idx="2">
                  <c:v>306132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54-AF4B-9026-2474204F2B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Activités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An1 2026</c:v>
                </c:pt>
                <c:pt idx="1">
                  <c:v>An2 2027</c:v>
                </c:pt>
                <c:pt idx="2">
                  <c:v>An3 2028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446002</c:v>
                </c:pt>
                <c:pt idx="2">
                  <c:v>459199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54-AF4B-9026-2474204F2B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8A99B0"/>
                </a:solidFill>
                <a:latin typeface="Arial"/>
                <a:ea typeface="+mn-ea"/>
                <a:cs typeface="+mn-cs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DF4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8A99B0"/>
                </a:solidFill>
                <a:latin typeface="Arial"/>
                <a:ea typeface="+mn-ea"/>
                <a:cs typeface="+mn-cs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rgbClr val="2D3B55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Charges An1 (MAD)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C80-544C-95DD-B9B1A0378A2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C80-544C-95DD-B9B1A0378A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C80-544C-95DD-B9B1A0378A2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C80-544C-95DD-B9B1A0378A2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C80-544C-95DD-B9B1A0378A2F}"/>
              </c:ext>
            </c:extLst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80-544C-95DD-B9B1A0378A2F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80-544C-95DD-B9B1A0378A2F}"/>
                </c:ext>
              </c:extLst>
            </c:dLbl>
            <c:dLbl>
              <c:idx val="2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80-544C-95DD-B9B1A0378A2F}"/>
                </c:ext>
              </c:extLst>
            </c:dLbl>
            <c:dLbl>
              <c:idx val="3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C80-544C-95DD-B9B1A0378A2F}"/>
                </c:ext>
              </c:extLst>
            </c:dLbl>
            <c:dLbl>
              <c:idx val="4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1" i="0" u="none" strike="noStrike" kern="1200" baseline="0">
                      <a:solidFill>
                        <a:srgbClr val="FFFFFF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C80-544C-95DD-B9B1A0378A2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rgbClr val="000000"/>
                    </a:solidFill>
                    <a:latin typeface="Arial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Commissions OTA</c:v>
                </c:pt>
                <c:pt idx="1">
                  <c:v>Loyer Holding</c:v>
                </c:pt>
                <c:pt idx="2">
                  <c:v>Eau / Élec / Gaz</c:v>
                </c:pt>
                <c:pt idx="3">
                  <c:v>Autres charges ext.</c:v>
                </c:pt>
                <c:pt idx="4">
                  <c:v>Personnel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455270</c:v>
                </c:pt>
                <c:pt idx="1">
                  <c:v>333132</c:v>
                </c:pt>
                <c:pt idx="2">
                  <c:v>180000</c:v>
                </c:pt>
                <c:pt idx="3">
                  <c:v>608818</c:v>
                </c:pt>
                <c:pt idx="4">
                  <c:v>374650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C80-544C-95DD-B9B1A0378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2D3B55"/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4F6F9"/>
    </a:solidFill>
    <a:ln w="635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Encaissements (MAD)</c:v>
                </c:pt>
              </c:strCache>
            </c:strRef>
          </c:tx>
          <c:spPr>
            <a:ln w="38100" cap="flat">
              <a:solidFill>
                <a:srgbClr val="1E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A4A"/>
              </a:solidFill>
              <a:ln w="9525" cap="flat">
                <a:solidFill>
                  <a:srgbClr val="1E2A4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2.91375291375291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51F-4C4F-9E97-DE6B1269497C}"/>
                </c:ext>
              </c:extLst>
            </c:dLbl>
            <c:dLbl>
              <c:idx val="1"/>
              <c:layout>
                <c:manualLayout>
                  <c:x val="-1.1874345859116403E-2"/>
                  <c:y val="3.88500388500388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51F-4C4F-9E97-DE6B1269497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B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3229984</c:v>
                </c:pt>
                <c:pt idx="1">
                  <c:v>4014024</c:v>
                </c:pt>
                <c:pt idx="2">
                  <c:v>4132789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1F-4C4F-9E97-DE6B126949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Décaissements (MAD)</c:v>
                </c:pt>
              </c:strCache>
            </c:strRef>
          </c:tx>
          <c:spPr>
            <a:ln w="38100" cap="flat">
              <a:solidFill>
                <a:srgbClr val="8A99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A99B0"/>
              </a:solidFill>
              <a:ln w="9525" cap="flat">
                <a:solidFill>
                  <a:srgbClr val="8A99B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1.4249215030939727E-2"/>
                  <c:y val="-3.88500388500389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51F-4C4F-9E97-DE6B1269497C}"/>
                </c:ext>
              </c:extLst>
            </c:dLbl>
            <c:dLbl>
              <c:idx val="1"/>
              <c:layout>
                <c:manualLayout>
                  <c:x val="-7.124607515469842E-3"/>
                  <c:y val="-4.37062937062937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51F-4C4F-9E97-DE6B1269497C}"/>
                </c:ext>
              </c:extLst>
            </c:dLbl>
            <c:dLbl>
              <c:idx val="2"/>
              <c:layout>
                <c:manualLayout>
                  <c:x val="-4.7497383436465607E-3"/>
                  <c:y val="-2.428127428127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51F-4C4F-9E97-DE6B1269497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B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1951870</c:v>
                </c:pt>
                <c:pt idx="1">
                  <c:v>2078949</c:v>
                </c:pt>
                <c:pt idx="2">
                  <c:v>2115875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1F-4C4F-9E97-DE6B126949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Solde net (MAD)</c:v>
                </c:pt>
              </c:strCache>
            </c:strRef>
          </c:tx>
          <c:spPr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1.4249215030939727E-2"/>
                  <c:y val="2.91375291375290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51F-4C4F-9E97-DE6B1269497C}"/>
                </c:ext>
              </c:extLst>
            </c:dLbl>
            <c:dLbl>
              <c:idx val="1"/>
              <c:layout>
                <c:manualLayout>
                  <c:x val="0"/>
                  <c:y val="3.39937839937839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1F-4C4F-9E97-DE6B1269497C}"/>
                </c:ext>
              </c:extLst>
            </c:dLbl>
            <c:dLbl>
              <c:idx val="2"/>
              <c:layout>
                <c:manualLayout>
                  <c:x val="-7.1246075154700154E-3"/>
                  <c:y val="4.37062937062936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51F-4C4F-9E97-DE6B1269497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3B55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An1</c:v>
                </c:pt>
                <c:pt idx="1">
                  <c:v>An2</c:v>
                </c:pt>
                <c:pt idx="2">
                  <c:v>An3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1278114</c:v>
                </c:pt>
                <c:pt idx="1">
                  <c:v>1935075</c:v>
                </c:pt>
                <c:pt idx="2">
                  <c:v>2016914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51F-4C4F-9E97-DE6B126949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9B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9B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D3B55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018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FINANCIÈRE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PRÉVISIONNELLE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65760" y="2377440"/>
            <a:ext cx="10058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42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 DU MÉMOIRE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3090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Médina de Marrakech  -  Structure Holding + Exploitation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Prévisionnel sur 3 ans  |  2026 – 2027 – 2028  |  MAD 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886200"/>
            <a:ext cx="4754880" cy="658368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41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: 6 200 000 MAD  |  Riad 8 chambres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COMPTABLE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4736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Nice, le 10/10/2025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STRUCTURE DU MONTAGE JURIDIQUE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657600" cy="27432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70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MAROCAINE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Détient les murs du riad
Coût total : 6 200 000 MAD
Apport 50 % : 3 100 000 MAD
Emprunt 50 % : 3 100 000 MAD
Banque Populaire - 6 % / 20 ans
Mensualité : 22 209 MAD/mois
Résultat comptable : − 285 372/an
Surplus tréso : + 24 624 MAD/an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1995915"/>
            <a:ext cx="914400" cy="321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27 761 MAD/mois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51960" y="22860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097280"/>
            <a:ext cx="3657600" cy="2743200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1704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 D'EXPLOITATION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6916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le riad (héberg., resto, spa…)
CA An1 : 3 129 984 MAD
CA An2 : 4 014 024 MAD
CA An3 : 4 132 789 MAD
Résultat net An1 : 1 119 422 MAD
⚠ Exo. IS 5 </a:t>
            </a:r>
            <a:r>
              <a:rPr lang="en-US" sz="1200" dirty="0" err="1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 en devises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fin An3 : 5 280 103 MAD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8412480" cy="822960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09651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change EUR/MAD : 10,80  -  Coût total projet : 574 074 EUR  -  Riad 8 chambres, Médina de Marrakech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CHIFFRE D'AFFAIRES - YIELD MANAGEMENT &amp; SAISONNALITÉ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651760" cy="10058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3 129 984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An1 - 2026 (MAD)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24128"/>
            <a:ext cx="2651760" cy="1005840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4 014 024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An2 - 2027 (MAD)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024128"/>
            <a:ext cx="2651760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4 132 789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8076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An3 - 2028 (MAD)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122689426"/>
              </p:ext>
            </p:extLst>
          </p:nvPr>
        </p:nvGraphicFramePr>
        <p:xfrm>
          <a:off x="320040" y="2194560"/>
          <a:ext cx="53035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5852160" y="2194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Management An1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2514600"/>
            <a:ext cx="3017520" cy="29260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25511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64808" y="25511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59168" y="25511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44968" y="25511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2834640"/>
            <a:ext cx="3017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70448" y="28895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Juil–Sep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64808" y="288950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059168" y="28895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1 500/nuit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44968" y="288950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852160" y="3182112"/>
            <a:ext cx="3017520" cy="320040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70448" y="32369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Juin/Oct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464808" y="32369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80-85 %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059168" y="323697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1 500/nuit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44968" y="323697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852160" y="3529584"/>
            <a:ext cx="30175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70448" y="3584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Avr–Mai/Nov–Déc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64808" y="35844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60-70 %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059168" y="35844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1 200/nuit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744968" y="358444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52160" y="3877056"/>
            <a:ext cx="3017520" cy="320040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70448" y="39319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Jan–Fév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464808" y="39319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059168" y="39319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900/nuit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744968" y="39319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852160" y="4251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moyen An1 : ~73 %  |  8 chambres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STRUCTURE DES CHARGES &amp; MARGES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287862664"/>
              </p:ext>
            </p:extLst>
          </p:nvPr>
        </p:nvGraphicFramePr>
        <p:xfrm>
          <a:off x="274320" y="1005840"/>
          <a:ext cx="3657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297680" y="10241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Soldes Intermédiaires de Gestion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97680" y="1371600"/>
            <a:ext cx="4572000" cy="3200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15968" y="14081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89320" y="140817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84848" y="1408176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71232" y="140817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An3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719072"/>
            <a:ext cx="4572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15968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 (MAD)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1783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3 129 984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84848" y="17830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4 014 024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71232" y="1783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4 132 789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2112264"/>
            <a:ext cx="4572000" cy="37490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15968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89320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2 533 135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84848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3 419 355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71232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3 520 526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97680" y="2505456"/>
            <a:ext cx="4572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15968" y="2569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(% CA)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9320" y="25694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80,9 %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84848" y="25694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85,2 %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571232" y="2569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85,2 %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297680" y="2898648"/>
            <a:ext cx="4572000" cy="37490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15968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989320" y="2962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1 178 114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84848" y="2962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1 935 075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571232" y="2962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2 016 914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297680" y="3291840"/>
            <a:ext cx="4572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15968" y="33558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(% CA)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89320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37,6 %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784848" y="335584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571232" y="33558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48,8 %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297680" y="3685032"/>
            <a:ext cx="4572000" cy="37490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15968" y="3749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989320" y="3749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1 119 422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784848" y="37490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1 876 383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571232" y="3749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1 958 222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297680" y="4078224"/>
            <a:ext cx="45720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15968" y="41422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(% CA)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989320" y="4142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784848" y="41422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46,7 %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571232" y="4142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47,4 %</a:t>
            </a:r>
            <a:endParaRPr lang="en-US" sz="1000" dirty="0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643F68B3-DE85-C548-A345-BA3BB06242E3}"/>
              </a:ext>
            </a:extLst>
          </p:cNvPr>
          <p:cNvSpPr/>
          <p:nvPr/>
        </p:nvSpPr>
        <p:spPr>
          <a:xfrm>
            <a:off x="4297680" y="456380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*Charges externs : </a:t>
            </a:r>
            <a:r>
              <a:rPr lang="en-US" sz="600" dirty="0" err="1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r>
              <a:rPr lang="en-US" sz="6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charges : déplacements, abonnements… 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BUDGET DE TRÉSORERIE — 3 ANS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651760" cy="10058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1 328 114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 An1 (MAD)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24128"/>
            <a:ext cx="2651760" cy="10058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3 263 189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 An2 (MAD)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024128"/>
            <a:ext cx="2651760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078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5 280 103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8076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fin An3 (MAD)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4249316640"/>
              </p:ext>
            </p:extLst>
          </p:nvPr>
        </p:nvGraphicFramePr>
        <p:xfrm>
          <a:off x="320040" y="2194560"/>
          <a:ext cx="5347663" cy="2615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6199632" y="2184155"/>
            <a:ext cx="2651760" cy="29260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22349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24928" y="2220731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94902" y="2509083"/>
            <a:ext cx="2651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56867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Encaiss. An1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06640" y="2552515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3 229 984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194902" y="2796171"/>
            <a:ext cx="2651760" cy="25603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83613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Décaiss. An1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2850879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1 951 870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94902" y="3070335"/>
            <a:ext cx="265176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31004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An1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24928" y="310872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1 278 114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194902" y="3352381"/>
            <a:ext cx="2651760" cy="25603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31478" y="33710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Encaiss. An2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20198" y="3386587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4 014 024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194902" y="3642619"/>
            <a:ext cx="2651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31478" y="3683141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Décaiss. An2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20198" y="3683141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2 078 949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194902" y="3925531"/>
            <a:ext cx="265176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36208" y="39364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An2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06640" y="39441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1 935 075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194902" y="4200326"/>
            <a:ext cx="2651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425192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Encaiss. An3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420198" y="425192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4 132 789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194902" y="4473900"/>
            <a:ext cx="2651760" cy="25603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450925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Décaiss. An3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20198" y="4509253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2 115 875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6194902" y="4757244"/>
            <a:ext cx="2651760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231478" y="4765285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An3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406640" y="4765285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2 016 914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HOLDING FINANCEMENT &amp; RETOUR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965960" cy="10058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 projet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6 200 000 MAD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32304" y="1024128"/>
            <a:ext cx="1965960" cy="1005840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50 %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32304" y="1463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3 100 000 MAD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90288" y="1024128"/>
            <a:ext cx="1965960" cy="10058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6 % / 20 ans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0288" y="1463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3 100 000 MAD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48272" y="1024128"/>
            <a:ext cx="1965960" cy="1005840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078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Mensualité emprunt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48272" y="14630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22 209 MAD/mois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inter-sociétés (Holding ← Exploitation)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523744"/>
            <a:ext cx="4114800" cy="29260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5603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43784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986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Mensualité emprunt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8986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22 209 MAD/mois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191256"/>
            <a:ext cx="4114800" cy="32918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24612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</a:t>
            </a:r>
            <a:r>
              <a:rPr lang="en-US" sz="1000" dirty="0" err="1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+25 %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2461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+ 3 552 MAD/mois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38728"/>
            <a:ext cx="411480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935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MENSUEL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43200" y="35935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27 761 MAD/mois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4114800" cy="32918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9410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 annuel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394106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333 132 MAD/an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33672"/>
            <a:ext cx="4114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2885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tréso Holding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428853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+ 24 624 MAD/an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Holding (3 ans)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2523744"/>
            <a:ext cx="4023360" cy="292608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25603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843784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898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 perçus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32320" y="289864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333 132 MAD/an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3191256"/>
            <a:ext cx="4023360" cy="32918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2461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Mensualités emprunt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24612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266 508 MAD/an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538728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3593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gestion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132320" y="35935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42 000 → 43 680 MAD/an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46320" y="3886200"/>
            <a:ext cx="4023360" cy="329184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9410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Amort. murs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132320" y="3941064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309 996 MAD/an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46320" y="4233672"/>
            <a:ext cx="4023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4288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An1 (compt)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0" y="4288536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− 285 372 MAD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4581144"/>
            <a:ext cx="4023360" cy="32918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64608" y="4636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tréso An1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132320" y="463600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+ 24 624 MAD/an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Résultat comptable négatif = effet amortissement murs. Flux de tréso positif.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SYNTHÈSE INDICATEURS DE RENTABILITÉ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2011680" cy="118872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6 200 000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Invest. total (MAD)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574 074 EUR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2011680" cy="1188720"/>
          </a:xfrm>
          <a:prstGeom prst="rect">
            <a:avLst/>
          </a:prstGeom>
          <a:solidFill>
            <a:srgbClr val="2D3B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Rentab. nette An1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50592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/ CA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1024128"/>
            <a:ext cx="2011680" cy="118872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4 954 027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26864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cumulé 3 ans (MAD)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26864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458 706 EUR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1024128"/>
            <a:ext cx="2011680" cy="11887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0789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5 280 103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03136" y="1691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 fin An3 (MAD)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938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488 898 EUR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395728"/>
            <a:ext cx="8595360" cy="320040"/>
          </a:xfrm>
          <a:prstGeom prst="rect">
            <a:avLst/>
          </a:prstGeom>
          <a:solidFill>
            <a:srgbClr val="1E2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43230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43230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An1 —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4323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41648" y="2432304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An2 — 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11496" y="2432304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51576" y="2432304"/>
            <a:ext cx="1344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An3 — 2028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14032" y="243230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4320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27980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Exploitation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27980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3 129 984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01568" y="279806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41648" y="27980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4 014 024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11496" y="279806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51576" y="279806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4 132 789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14032" y="27980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163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brute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331720" y="31638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2 533 135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01568" y="31638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80,9 %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041648" y="31638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3 419 355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11496" y="316382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85,2 %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751576" y="316382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3 520 526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14032" y="31638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85,2 %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47472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2608" y="3529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331720" y="35295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1 178 114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01568" y="35295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37,6 %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41648" y="352958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1 935 075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11496" y="352958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48,2 %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51576" y="352958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2 016 914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14032" y="35295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48,8 %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840480"/>
            <a:ext cx="8595360" cy="34747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" y="3895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 (exo IS)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331720" y="3895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1 119 422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401568" y="389534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35,8 %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041648" y="389534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1 876 383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11496" y="389534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46,7 %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51576" y="389534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1 958 222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14032" y="38953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47,4 %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20624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" y="42611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tréso fin d'an.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331720" y="42611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1 328 114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401568" y="42611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041648" y="42611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3 263 189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111496" y="42611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751576" y="426110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5 280 103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14032" y="4261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4572000"/>
            <a:ext cx="8595360" cy="347472"/>
          </a:xfrm>
          <a:prstGeom prst="rect">
            <a:avLst/>
          </a:prstGeom>
          <a:solidFill>
            <a:srgbClr val="E8ED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46268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Holding (tréso)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331720" y="46268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+ 24 624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01568" y="462686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041648" y="462686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+ 23 784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111496" y="462686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751576" y="4626864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+ 22 944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114032" y="46268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D3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9144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15087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 Holding + Exploitation parfaitement adapté au cadre juridique et fiscal marocain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011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de 3,1 M MAD en An1 - progression à 4,1 M MAD dès An2 grâce aux activités annexes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514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 nette de 35,8 % en An1 (exonération IS 5 ans sur CA en devises étrangères)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9808" y="3017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cumulée de 5 280 103 MAD à horizon 3 </a:t>
            </a:r>
            <a:r>
              <a:rPr lang="en-US" sz="1200" dirty="0" err="1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aucune tension de liquidité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 locatif brut Holding : 5,4 % du coût total du projet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2336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4023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Holding de 24 624 MAD/an - mensualité emprunt couverte </a:t>
            </a:r>
            <a:r>
              <a:rPr lang="en-US" sz="1200" dirty="0" err="1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</a:t>
            </a: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125 % par le loyer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498848"/>
            <a:ext cx="8412480" cy="18288"/>
          </a:xfrm>
          <a:prstGeom prst="rect">
            <a:avLst/>
          </a:prstGeom>
          <a:solidFill>
            <a:srgbClr val="8A9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 COMPTABLE  —  100 Avenue du diplôme d'expertise comptable, 06000 NICE  —  04 93 93 93 93  —  cabinet@cabinet.fr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986</Words>
  <Application>Microsoft Macintosh PowerPoint</Application>
  <PresentationFormat>Affichage à l'écran (16:9)</PresentationFormat>
  <Paragraphs>244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Meryem Ibrahym</cp:lastModifiedBy>
  <cp:revision>2</cp:revision>
  <dcterms:created xsi:type="dcterms:W3CDTF">2026-03-01T11:13:24Z</dcterms:created>
  <dcterms:modified xsi:type="dcterms:W3CDTF">2026-03-01T11:37:40Z</dcterms:modified>
</cp:coreProperties>
</file>