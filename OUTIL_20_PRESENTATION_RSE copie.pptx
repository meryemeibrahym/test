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9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50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49240" y="-365760"/>
            <a:ext cx="4297680" cy="4297680"/>
          </a:xfrm>
          <a:prstGeom prst="ellipse">
            <a:avLst/>
          </a:prstGeom>
          <a:solidFill>
            <a:srgbClr val="028090">
              <a:alpha val="28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548640"/>
            <a:ext cx="4937760" cy="4937760"/>
          </a:xfrm>
          <a:prstGeom prst="ellipse">
            <a:avLst/>
          </a:prstGeom>
          <a:solidFill>
            <a:srgbClr val="028090">
              <a:alpha val="36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-731520"/>
            <a:ext cx="5577840" cy="5577840"/>
          </a:xfrm>
          <a:prstGeom prst="ellipse">
            <a:avLst/>
          </a:prstGeom>
          <a:solidFill>
            <a:srgbClr val="028090">
              <a:alpha val="44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-914400"/>
            <a:ext cx="6217920" cy="6217920"/>
          </a:xfrm>
          <a:prstGeom prst="ellipse">
            <a:avLst/>
          </a:prstGeom>
          <a:solidFill>
            <a:srgbClr val="028090">
              <a:alpha val="5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0" y="-1097280"/>
            <a:ext cx="6858000" cy="6858000"/>
          </a:xfrm>
          <a:prstGeom prst="ellipse">
            <a:avLst/>
          </a:prstGeom>
          <a:solidFill>
            <a:srgbClr val="028090">
              <a:alpha val="6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A896">
              <a:alpha val="1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3383280"/>
            <a:ext cx="2743200" cy="2743200"/>
          </a:xfrm>
          <a:prstGeom prst="ellipse">
            <a:avLst/>
          </a:prstGeom>
          <a:solidFill>
            <a:srgbClr val="00A896">
              <a:alpha val="2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3566160"/>
            <a:ext cx="3200400" cy="3200400"/>
          </a:xfrm>
          <a:prstGeom prst="ellipse">
            <a:avLst/>
          </a:prstGeom>
          <a:solidFill>
            <a:srgbClr val="00A896">
              <a:alpha val="3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3749040"/>
            <a:ext cx="3657600" cy="3657600"/>
          </a:xfrm>
          <a:prstGeom prst="ellipse">
            <a:avLst/>
          </a:prstGeom>
          <a:solidFill>
            <a:srgbClr val="00A896">
              <a:alpha val="4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005840"/>
            <a:ext cx="594360" cy="59436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07899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0" y="1463040"/>
            <a:ext cx="594360" cy="594360"/>
          </a:xfrm>
          <a:prstGeom prst="ellipse">
            <a:avLst/>
          </a:prstGeom>
          <a:solidFill>
            <a:srgbClr val="E0F4F5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53619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5F6B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0" y="2011680"/>
            <a:ext cx="594360" cy="594360"/>
          </a:xfrm>
          <a:prstGeom prst="ellipse">
            <a:avLst/>
          </a:prstGeom>
          <a:solidFill>
            <a:srgbClr val="E0F4F5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0848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5F6B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0" y="2468880"/>
            <a:ext cx="594360" cy="594360"/>
          </a:xfrm>
          <a:prstGeom prst="ellipse">
            <a:avLst/>
          </a:prstGeom>
          <a:solidFill>
            <a:srgbClr val="E0F4F5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5420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5F6B"/>
                </a:solidFill>
              </a:rPr>
              <a:t>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0" y="2926080"/>
            <a:ext cx="594360" cy="594360"/>
          </a:xfrm>
          <a:prstGeom prst="ellipse">
            <a:avLst/>
          </a:prstGeom>
          <a:solidFill>
            <a:srgbClr val="E0F4F5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9992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5F6B"/>
                </a:solidFill>
              </a:rPr>
              <a:t>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400" dirty="0">
                <a:solidFill>
                  <a:srgbClr val="B2E4E8"/>
                </a:solidFill>
              </a:rPr>
              <a:t>RAPPORT DE DIAGNOSTIC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868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PERFORMANCE RSE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5720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A896"/>
                </a:solidFill>
              </a:rPr>
              <a:t>Riad de la Soutenance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07492" y="2286000"/>
            <a:ext cx="1901952" cy="18516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51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83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452628" y="3376749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2E4E8"/>
                </a:solidFill>
              </a:rPr>
              <a:t>/ 100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74875" y="4114800"/>
            <a:ext cx="166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E4E8"/>
                </a:solidFill>
              </a:rPr>
              <a:t>performance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2E4E8"/>
                </a:solidFill>
              </a:rPr>
              <a:t>économique responsable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D8"/>
                </a:solidFill>
              </a:rPr>
              <a:t>Exercice : 2025   |   </a:t>
            </a:r>
            <a:r>
              <a:rPr lang="en-US" sz="900" b="1" dirty="0">
                <a:solidFill>
                  <a:srgbClr val="CBD5D8"/>
                </a:solidFill>
              </a:rPr>
              <a:t>Médina, Marrakech</a:t>
            </a:r>
            <a:r>
              <a:rPr lang="en-US" sz="900" dirty="0">
                <a:solidFill>
                  <a:srgbClr val="CBD5D8"/>
                </a:solidFill>
              </a:rPr>
              <a:t>   |   Réalisé par : Cabinet </a:t>
            </a:r>
            <a:r>
              <a:rPr lang="en-US" sz="900" dirty="0" err="1">
                <a:solidFill>
                  <a:srgbClr val="CBD5D8"/>
                </a:solidFill>
              </a:rPr>
              <a:t>comptable</a:t>
            </a:r>
            <a:r>
              <a:rPr lang="en-US" sz="900" dirty="0">
                <a:solidFill>
                  <a:srgbClr val="CBD5D8"/>
                </a:solidFill>
              </a:rPr>
              <a:t> |  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B2F"/>
                </a:solidFill>
              </a:rPr>
              <a:t>COMPRENDRE LE SCORE RSE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C60"/>
                </a:solidFill>
              </a:rPr>
              <a:t>Méthodologie RSE – 15 indicateurs – 3 piliers de même poids (33,3%)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0352" cy="530352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52728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353312"/>
            <a:ext cx="59436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353312"/>
            <a:ext cx="1485900" cy="201168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188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8E3C"/>
                </a:solidFill>
              </a:rPr>
              <a:t>&gt; 75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5179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C60"/>
                </a:solidFill>
              </a:rPr>
              <a:t>Leader RSE – Valorisation et communication recommandées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1325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8E3C"/>
                </a:solidFill>
              </a:rPr>
              <a:t>25% des riads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530352" cy="530352"/>
          </a:xfrm>
          <a:prstGeom prst="ellipse">
            <a:avLst/>
          </a:prstGeom>
          <a:solidFill>
            <a:srgbClr val="5C9E31"/>
          </a:solidFill>
          <a:ln w="12700">
            <a:solidFill>
              <a:srgbClr val="5C9E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65960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1560" y="2066544"/>
            <a:ext cx="59436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2066544"/>
            <a:ext cx="3268980" cy="201168"/>
          </a:xfrm>
          <a:prstGeom prst="rect">
            <a:avLst/>
          </a:prstGeom>
          <a:solidFill>
            <a:srgbClr val="5C9E31"/>
          </a:solidFill>
          <a:ln w="12700">
            <a:solidFill>
              <a:srgbClr val="5C9E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01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C9E31"/>
                </a:solidFill>
              </a:rPr>
              <a:t>60–74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2311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C60"/>
                </a:solidFill>
              </a:rPr>
              <a:t>Très bien – Consolidation et certification à portée de main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C9E31"/>
                </a:solidFill>
              </a:rPr>
              <a:t>30% des riads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15184"/>
            <a:ext cx="530352" cy="53035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79192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1560" y="2779776"/>
            <a:ext cx="59436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779776"/>
            <a:ext cx="4457700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2615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9A825"/>
                </a:solidFill>
              </a:rPr>
              <a:t>50–59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9443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C60"/>
                </a:solidFill>
              </a:rPr>
              <a:t>Bien – Engagements solides, axes d'amélioration ciblés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752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A825"/>
                </a:solidFill>
              </a:rPr>
              <a:t>25% des riads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328416"/>
            <a:ext cx="530352" cy="53035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92424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51560" y="3493008"/>
            <a:ext cx="59436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3493008"/>
            <a:ext cx="5349240" cy="2011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3328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7C00"/>
                </a:solidFill>
              </a:rPr>
              <a:t>35–49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C60"/>
                </a:solidFill>
              </a:rPr>
              <a:t>Moyen – Aligné secteur, plan d'action requis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34655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7C00"/>
                </a:solidFill>
              </a:rPr>
              <a:t>15% des riads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041648"/>
            <a:ext cx="530352" cy="530352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05656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51560" y="4206240"/>
            <a:ext cx="59436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1560" y="4206240"/>
            <a:ext cx="5943600" cy="20116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32F2F"/>
                </a:solidFill>
              </a:rPr>
              <a:t>&lt; 35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43708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C60"/>
                </a:solidFill>
              </a:rPr>
              <a:t>Progrès à réaliser – Actions correctives urgentes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4178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32F2F"/>
                </a:solidFill>
              </a:rPr>
              <a:t>5% des riads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663440"/>
            <a:ext cx="8321040" cy="384048"/>
          </a:xfrm>
          <a:prstGeom prst="rect">
            <a:avLst/>
          </a:prstGeom>
          <a:solidFill>
            <a:srgbClr val="E0F4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0001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5F6B"/>
                </a:solidFill>
              </a:rPr>
              <a:t>Riad de la Soutenance : 83/100 → Catégorie A - LEADER RSE | Objectif 2026 : maintenir et certifier (Clef </a:t>
            </a:r>
            <a:r>
              <a:rPr lang="en-US" sz="1000" b="1" dirty="0" err="1">
                <a:solidFill>
                  <a:srgbClr val="015F6B"/>
                </a:solidFill>
              </a:rPr>
              <a:t>Verte</a:t>
            </a:r>
            <a:r>
              <a:rPr lang="en-US" sz="1000" b="1" dirty="0">
                <a:solidFill>
                  <a:srgbClr val="015F6B"/>
                </a:solidFill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2F"/>
                </a:solidFill>
              </a:rPr>
              <a:t>PROFIL DE NOTATION VUE D'ENSEMBLE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C60"/>
                </a:solidFill>
              </a:rPr>
              <a:t>Riad de la Soutenance | Exercice 2025 | 15 indicateurs | 3 piliers × 33,3%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9144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Environnement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C60"/>
                </a:solidFill>
              </a:rPr>
              <a:t>33%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2011680"/>
            <a:ext cx="182880" cy="2286000"/>
          </a:xfrm>
          <a:prstGeom prst="rect">
            <a:avLst/>
          </a:prstGeom>
          <a:solidFill>
            <a:srgbClr val="CBD5D8"/>
          </a:solidFill>
          <a:ln w="12700">
            <a:solidFill>
              <a:srgbClr val="CBD5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3063240"/>
            <a:ext cx="18288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4279392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4752" y="4343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914400"/>
            <a:ext cx="502920" cy="502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</a:rPr>
              <a:t>Social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C60"/>
                </a:solidFill>
              </a:rPr>
              <a:t>33%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20440" y="2011680"/>
            <a:ext cx="182880" cy="2286000"/>
          </a:xfrm>
          <a:prstGeom prst="rect">
            <a:avLst/>
          </a:prstGeom>
          <a:solidFill>
            <a:srgbClr val="CBD5D8"/>
          </a:solidFill>
          <a:ln w="12700">
            <a:solidFill>
              <a:srgbClr val="CBD5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2560320"/>
            <a:ext cx="182880" cy="1737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4279392"/>
            <a:ext cx="502920" cy="502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4343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03520" y="914400"/>
            <a:ext cx="502920" cy="50292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27A0"/>
                </a:solidFill>
              </a:rPr>
              <a:t>Gouvernance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C60"/>
                </a:solidFill>
              </a:rPr>
              <a:t>33%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2011680"/>
            <a:ext cx="182880" cy="2286000"/>
          </a:xfrm>
          <a:prstGeom prst="rect">
            <a:avLst/>
          </a:prstGeom>
          <a:solidFill>
            <a:srgbClr val="CBD5D8"/>
          </a:solidFill>
          <a:ln w="12700">
            <a:solidFill>
              <a:srgbClr val="CBD5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3040380"/>
            <a:ext cx="182880" cy="125730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5232" y="4279392"/>
            <a:ext cx="502920" cy="50292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4343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1737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05472" y="4343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83680" y="1554480"/>
            <a:ext cx="1554480" cy="1508760"/>
          </a:xfrm>
          <a:prstGeom prst="ellipse">
            <a:avLst/>
          </a:prstGeom>
          <a:solidFill>
            <a:srgbClr val="013A40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16486" y="1818567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83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6675120" y="2510899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2E4E8"/>
                </a:solidFill>
              </a:rPr>
              <a:t>/ 100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55674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2F"/>
                </a:solidFill>
              </a:rPr>
              <a:t>SCORE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B2F"/>
                </a:solidFill>
              </a:rPr>
              <a:t>GLOBAL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25046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A825"/>
                </a:solidFill>
              </a:rPr>
              <a:t>LEADER RSE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E0F4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70001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C60"/>
                </a:solidFill>
              </a:rPr>
              <a:t>Notation / 100 = Moyenne des 3 piliers (ENV + SOC + GOV) / 3 × 100  |  Chaque pilier = moyenne simple de ses indicateurs notés de 0 à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B2F"/>
                </a:solidFill>
              </a:rPr>
              <a:t>APERÇU DES INDICATEURS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C60"/>
                </a:solidFill>
              </a:rPr>
              <a:t>Score par indicateur (0–3) converti en note /100 | Couleur = pilier | Taille = importance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10640" y="1169126"/>
            <a:ext cx="20116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10640" y="119655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ENVIRONNEMENT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28928" y="153488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8928" y="158975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67840" y="158975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Eau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28928" y="203780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8928" y="209267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67840" y="20926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Énergie/GES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28928" y="254072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8928" y="259559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67840" y="259559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Déchets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28928" y="3043646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8928" y="309851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67840" y="309851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Biodiversité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328928" y="354656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8928" y="360143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67840" y="36014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Achats resp.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328928" y="4049486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8928" y="410435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67840" y="410435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Mobilité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05200" y="1169126"/>
            <a:ext cx="201168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5200" y="119655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SOCIAL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23488" y="1534886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3488" y="158975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62400" y="158975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Emploi local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23488" y="2037806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3488" y="209267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62400" y="20926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Conditions trav.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23488" y="254072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3488" y="259559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62400" y="259559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Égalité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505200" y="306803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05200" y="31394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944112" y="312289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Tourisme resp.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505200" y="354656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05200" y="360143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944112" y="36014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Bien-être client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99760" y="1169126"/>
            <a:ext cx="2011680" cy="292608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99760" y="119655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GOUVERNANCE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18048" y="1534886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8048" y="158975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56960" y="158975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Transparence fisc.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718048" y="203780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8048" y="209267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56960" y="209267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Conformité régl.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718048" y="2540726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18048" y="259559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156960" y="259559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Éthique/Anti-corr.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718048" y="304364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8048" y="309851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156960" y="309851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2B2F"/>
                </a:solidFill>
              </a:rPr>
              <a:t>Protection données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5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-640080"/>
            <a:ext cx="3291840" cy="3291840"/>
          </a:xfrm>
          <a:prstGeom prst="ellipse">
            <a:avLst/>
          </a:prstGeom>
          <a:solidFill>
            <a:srgbClr val="028090">
              <a:alpha val="28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-822960"/>
            <a:ext cx="3840480" cy="3840480"/>
          </a:xfrm>
          <a:prstGeom prst="ellipse">
            <a:avLst/>
          </a:prstGeom>
          <a:solidFill>
            <a:srgbClr val="028090">
              <a:alpha val="36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-1005840"/>
            <a:ext cx="4389120" cy="4389120"/>
          </a:xfrm>
          <a:prstGeom prst="ellipse">
            <a:avLst/>
          </a:prstGeom>
          <a:solidFill>
            <a:srgbClr val="028090">
              <a:alpha val="44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-1188720"/>
            <a:ext cx="4937760" cy="4937760"/>
          </a:xfrm>
          <a:prstGeom prst="ellipse">
            <a:avLst/>
          </a:prstGeom>
          <a:solidFill>
            <a:srgbClr val="028090">
              <a:alpha val="5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028090">
              <a:alpha val="6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ANALYSE PAR PILIER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A896"/>
                </a:solidFill>
              </a:rPr>
              <a:t>Points forts, axes d'amélioration &amp; éléments probants clés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13716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7D32"/>
                </a:solidFill>
              </a:rPr>
              <a:t>🌿 ENVIRONNEMENT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914400" cy="9144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89520" y="704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/100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</a:rPr>
              <a:t>Pondération : 33%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C60"/>
                </a:solidFill>
              </a:rPr>
              <a:t>Score pilier 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161288"/>
            <a:ext cx="5486400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161288"/>
            <a:ext cx="2962656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11247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D32"/>
                </a:solidFill>
              </a:rPr>
              <a:t>67/100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411480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</a:rPr>
              <a:t>✅ POINTS FORTS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87452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Biodiversité exemplaire (100% plantes locales, zéro pesticide)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 err="1">
                <a:solidFill>
                  <a:srgbClr val="1A2B2F"/>
                </a:solidFill>
              </a:rPr>
              <a:t>Chauffe-eau</a:t>
            </a:r>
            <a:r>
              <a:rPr lang="en-US" sz="950" dirty="0">
                <a:solidFill>
                  <a:srgbClr val="1A2B2F"/>
                </a:solidFill>
              </a:rPr>
              <a:t> </a:t>
            </a:r>
            <a:r>
              <a:rPr lang="en-US" sz="950" dirty="0" err="1">
                <a:solidFill>
                  <a:srgbClr val="1A2B2F"/>
                </a:solidFill>
              </a:rPr>
              <a:t>solaire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Achats </a:t>
            </a:r>
            <a:r>
              <a:rPr lang="en-US" sz="950" dirty="0" err="1">
                <a:solidFill>
                  <a:srgbClr val="1A2B2F"/>
                </a:solidFill>
              </a:rPr>
              <a:t>locaux</a:t>
            </a:r>
            <a:r>
              <a:rPr lang="en-US" sz="950" dirty="0">
                <a:solidFill>
                  <a:srgbClr val="1A2B2F"/>
                </a:solidFill>
              </a:rPr>
              <a:t> 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Mobilité durable : vélos + déplacements à pied préconisés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508760"/>
            <a:ext cx="4206240" cy="1554480"/>
          </a:xfrm>
          <a:prstGeom prst="rect">
            <a:avLst/>
          </a:prstGeom>
          <a:solidFill>
            <a:srgbClr val="FFF8F8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727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7C00"/>
                </a:solidFill>
              </a:rPr>
              <a:t>⚠️ AXES D'AMÉLIORATION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Consommation </a:t>
            </a:r>
            <a:r>
              <a:rPr lang="en-US" sz="950" dirty="0" err="1">
                <a:solidFill>
                  <a:srgbClr val="1A2B2F"/>
                </a:solidFill>
              </a:rPr>
              <a:t>eau</a:t>
            </a:r>
            <a:r>
              <a:rPr lang="en-US" sz="950" dirty="0">
                <a:solidFill>
                  <a:srgbClr val="1A2B2F"/>
                </a:solidFill>
              </a:rPr>
              <a:t> </a:t>
            </a:r>
            <a:r>
              <a:rPr lang="en-US" sz="950" dirty="0" err="1">
                <a:solidFill>
                  <a:srgbClr val="1A2B2F"/>
                </a:solidFill>
              </a:rPr>
              <a:t>importante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Énergie 72 kWh/</a:t>
            </a:r>
            <a:r>
              <a:rPr lang="en-US" sz="950" dirty="0" err="1">
                <a:solidFill>
                  <a:srgbClr val="1A2B2F"/>
                </a:solidFill>
              </a:rPr>
              <a:t>nuitée</a:t>
            </a:r>
            <a:r>
              <a:rPr lang="en-US" sz="950" dirty="0">
                <a:solidFill>
                  <a:srgbClr val="1A2B2F"/>
                </a:solidFill>
              </a:rPr>
              <a:t> 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Aucune certification env.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Politique fournisseurs non formalisée par écrit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8503920" cy="68580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64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0A896"/>
                </a:solidFill>
              </a:rPr>
              <a:t>ACTION PRIORITAIRE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 Installer </a:t>
            </a:r>
            <a:r>
              <a:rPr lang="en-US" sz="1000" dirty="0" err="1">
                <a:solidFill>
                  <a:srgbClr val="FFFFFF"/>
                </a:solidFill>
              </a:rPr>
              <a:t>panneaux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err="1">
                <a:solidFill>
                  <a:srgbClr val="FFFFFF"/>
                </a:solidFill>
              </a:rPr>
              <a:t>solaires</a:t>
            </a:r>
            <a:r>
              <a:rPr lang="en-US" sz="1000" dirty="0">
                <a:solidFill>
                  <a:srgbClr val="FFFFFF"/>
                </a:solidFill>
              </a:rPr>
              <a:t> + engager dossier Clef </a:t>
            </a:r>
            <a:r>
              <a:rPr lang="en-US" sz="1000" dirty="0" err="1">
                <a:solidFill>
                  <a:srgbClr val="FFFFFF"/>
                </a:solidFill>
              </a:rPr>
              <a:t>Verte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5C60"/>
                </a:solidFill>
              </a:rPr>
              <a:t>Détail des indicateurs :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2062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611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" y="4626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E1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536192" y="42062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36192" y="42611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90472" y="4626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E2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98064" y="42062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98064" y="42611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52344" y="4626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E3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059936" y="4206240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59936" y="42611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14216" y="4626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E4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321808" y="42062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42611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76088" y="4626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E5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583680" y="4206240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42611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37960" y="4626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E6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65100"/>
                </a:solidFill>
              </a:rPr>
              <a:t>👥 SOCIAL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914400" cy="9144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89520" y="704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/100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5100"/>
                </a:solidFill>
              </a:rPr>
              <a:t>Pondération : 33%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C60"/>
                </a:solidFill>
              </a:rPr>
              <a:t>Score pilier 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161288"/>
            <a:ext cx="5486400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161288"/>
            <a:ext cx="4169664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11247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5100"/>
                </a:solidFill>
              </a:rPr>
              <a:t>100/100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4114800" cy="15544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5100"/>
                </a:solidFill>
              </a:rPr>
              <a:t>✅ POINTS FORTS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87452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CNSS 100% à jour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100% emploi local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 err="1">
                <a:solidFill>
                  <a:srgbClr val="1A2B2F"/>
                </a:solidFill>
              </a:rPr>
              <a:t>Partenariat</a:t>
            </a:r>
            <a:r>
              <a:rPr lang="en-US" sz="950" dirty="0">
                <a:solidFill>
                  <a:srgbClr val="1A2B2F"/>
                </a:solidFill>
              </a:rPr>
              <a:t> OFPPT* actif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0 accident du travail 2025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Ancrage communautaire fort (associations, artisans locaux)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508760"/>
            <a:ext cx="4206240" cy="1554480"/>
          </a:xfrm>
          <a:prstGeom prst="rect">
            <a:avLst/>
          </a:prstGeom>
          <a:solidFill>
            <a:srgbClr val="FFF8F8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727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7C00"/>
                </a:solidFill>
              </a:rPr>
              <a:t>⚠️ AXES D'AMÉLIORATION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 err="1">
                <a:solidFill>
                  <a:srgbClr val="1A2B2F"/>
                </a:solidFill>
              </a:rPr>
              <a:t>Élargir</a:t>
            </a:r>
            <a:r>
              <a:rPr lang="en-US" sz="950" dirty="0">
                <a:solidFill>
                  <a:srgbClr val="1A2B2F"/>
                </a:solidFill>
              </a:rPr>
              <a:t> partenariats avec associations de protection de l'enfance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8503920" cy="68580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64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0A896"/>
                </a:solidFill>
              </a:rPr>
              <a:t>ACTION PRIORITAIRE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 + </a:t>
            </a:r>
            <a:r>
              <a:rPr lang="en-US" sz="1000" dirty="0" err="1">
                <a:solidFill>
                  <a:srgbClr val="FFFFFF"/>
                </a:solidFill>
              </a:rPr>
              <a:t>partenariats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err="1">
                <a:solidFill>
                  <a:srgbClr val="FFFFFF"/>
                </a:solidFill>
              </a:rPr>
              <a:t>associatifs</a:t>
            </a:r>
            <a:r>
              <a:rPr lang="en-US" sz="1000" dirty="0">
                <a:solidFill>
                  <a:srgbClr val="FFFFFF"/>
                </a:solidFill>
              </a:rPr>
              <a:t> et avec les </a:t>
            </a:r>
            <a:r>
              <a:rPr lang="en-US" sz="1000" dirty="0" err="1">
                <a:solidFill>
                  <a:srgbClr val="FFFFFF"/>
                </a:solidFill>
              </a:rPr>
              <a:t>coopératives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5C60"/>
                </a:solidFill>
              </a:rPr>
              <a:t>Détail des indicateurs :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19072" y="4196443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9072" y="4251307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4646023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S1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980944" y="4196443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80944" y="4251307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70781" y="463470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S2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242816" y="4196443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42816" y="4251307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32653" y="463470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S3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04688" y="4196443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4251307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525" y="463470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S4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766560" y="4196443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251307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89925" y="4626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S5</a:t>
            </a:r>
            <a:endParaRPr lang="en-US" sz="75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66C3D5AC-EA9D-084D-8A2E-50A8408442F0}"/>
              </a:ext>
            </a:extLst>
          </p:cNvPr>
          <p:cNvSpPr txBox="1"/>
          <p:nvPr/>
        </p:nvSpPr>
        <p:spPr>
          <a:xfrm>
            <a:off x="274320" y="4892040"/>
            <a:ext cx="45763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00" i="1" dirty="0">
                <a:solidFill>
                  <a:srgbClr val="040C28"/>
                </a:solidFill>
                <a:latin typeface="Google Sans"/>
              </a:rPr>
              <a:t>*</a:t>
            </a:r>
            <a:r>
              <a:rPr lang="fr-FR" sz="600" b="0" i="1" dirty="0">
                <a:solidFill>
                  <a:srgbClr val="040C28"/>
                </a:solidFill>
                <a:effectLst/>
                <a:latin typeface="Google Sans"/>
              </a:rPr>
              <a:t>Office de la formation professionnelle et de promotion du travail</a:t>
            </a:r>
            <a:endParaRPr lang="fr-FR" sz="6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527A0"/>
                </a:solidFill>
              </a:rPr>
              <a:t>⚖ GOUVERNANCE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91440"/>
            <a:ext cx="914400" cy="91440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89520" y="704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/100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27A0"/>
                </a:solidFill>
              </a:rPr>
              <a:t>Pondération : 33%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5C60"/>
                </a:solidFill>
              </a:rPr>
              <a:t>Score pilier 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161288"/>
            <a:ext cx="5486400" cy="16459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161288"/>
            <a:ext cx="3017520" cy="16459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11247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527A0"/>
                </a:solidFill>
              </a:rPr>
              <a:t>83/100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4114800" cy="1554480"/>
          </a:xfrm>
          <a:prstGeom prst="rect">
            <a:avLst/>
          </a:prstGeom>
          <a:solidFill>
            <a:srgbClr val="EDE7F6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527A0"/>
                </a:solidFill>
              </a:rPr>
              <a:t>✅ POINTS FORTS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87452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IS/TVA à jour sans redressement (attestation DGI 2025)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en-US" sz="950" dirty="0" err="1">
                <a:solidFill>
                  <a:srgbClr val="1A2B2F"/>
                </a:solidFill>
              </a:rPr>
              <a:t>Registre</a:t>
            </a:r>
            <a:r>
              <a:rPr lang="en-US" sz="950" dirty="0">
                <a:solidFill>
                  <a:srgbClr val="1A2B2F"/>
                </a:solidFill>
              </a:rPr>
              <a:t> RGPD formalisé + Déclaration CNDP </a:t>
            </a:r>
            <a:r>
              <a:rPr lang="en-US" sz="950" dirty="0" err="1">
                <a:solidFill>
                  <a:srgbClr val="1A2B2F"/>
                </a:solidFill>
              </a:rPr>
              <a:t>effectuée</a:t>
            </a:r>
            <a:endParaRPr lang="en-US" sz="950" dirty="0">
              <a:solidFill>
                <a:srgbClr val="1A2B2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0" y="1508760"/>
            <a:ext cx="4206240" cy="1554480"/>
          </a:xfrm>
          <a:prstGeom prst="rect">
            <a:avLst/>
          </a:prstGeom>
          <a:solidFill>
            <a:srgbClr val="FFF8F8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727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7C00"/>
                </a:solidFill>
              </a:rPr>
              <a:t>⚠️ AXES D'AMÉLIORATION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950" dirty="0">
                <a:solidFill>
                  <a:srgbClr val="1A2B2F"/>
                </a:solidFill>
              </a:rPr>
              <a:t>Code de </a:t>
            </a:r>
            <a:r>
              <a:rPr lang="en-US" sz="950" dirty="0" err="1">
                <a:solidFill>
                  <a:srgbClr val="1A2B2F"/>
                </a:solidFill>
              </a:rPr>
              <a:t>conduite</a:t>
            </a:r>
            <a:r>
              <a:rPr lang="en-US" sz="950" dirty="0">
                <a:solidFill>
                  <a:srgbClr val="1A2B2F"/>
                </a:solidFill>
              </a:rPr>
              <a:t> anti-corruption</a:t>
            </a:r>
            <a:endParaRPr lang="en-US" sz="950" dirty="0"/>
          </a:p>
          <a:p>
            <a:pPr marL="342900" indent="-342900" algn="l">
              <a:buSzPct val="100000"/>
              <a:buChar char="•"/>
            </a:pPr>
            <a:r>
              <a:rPr lang="fr-FR" sz="950" dirty="0">
                <a:solidFill>
                  <a:srgbClr val="1A2B2F"/>
                </a:solidFill>
              </a:rPr>
              <a:t>Afficher une politique de non-acceptation des pourboires détournés pour le personnel</a:t>
            </a:r>
            <a:endParaRPr lang="en-US" sz="950" dirty="0">
              <a:solidFill>
                <a:srgbClr val="1A2B2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3209544"/>
            <a:ext cx="8503920" cy="68580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0" name="Text 18"/>
          <p:cNvSpPr/>
          <p:nvPr/>
        </p:nvSpPr>
        <p:spPr>
          <a:xfrm>
            <a:off x="457200" y="3264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0A896"/>
                </a:solidFill>
              </a:rPr>
              <a:t>ACTION PRIORITAIRE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FFFFFF"/>
                </a:solidFill>
              </a:rPr>
              <a:t>Rédiger</a:t>
            </a:r>
            <a:r>
              <a:rPr lang="en-US" sz="1000" dirty="0">
                <a:solidFill>
                  <a:srgbClr val="FFFFFF"/>
                </a:solidFill>
              </a:rPr>
              <a:t> code de conduite anti-corruption + </a:t>
            </a:r>
            <a:r>
              <a:rPr lang="fr-FR" sz="1000" dirty="0">
                <a:solidFill>
                  <a:schemeClr val="bg1"/>
                </a:solidFill>
              </a:rPr>
              <a:t>Afficher une politique de non-acceptation des pourboires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4320" y="3950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5C60"/>
                </a:solidFill>
              </a:rPr>
              <a:t>Détail des indicateurs :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72788" y="4263281"/>
            <a:ext cx="384048" cy="38404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2788" y="431814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27068" y="4683905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G1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434660" y="4263281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4660" y="431814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8940" y="4683905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G2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96532" y="4263281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6532" y="431814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50812" y="4683905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G3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958404" y="4263281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58404" y="431814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12684" y="4683905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C60"/>
                </a:solidFill>
              </a:rPr>
              <a:t>G4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100" dirty="0">
                <a:solidFill>
                  <a:srgbClr val="FFFFFF"/>
                </a:solidFill>
              </a:rPr>
              <a:t>INDICATEURS CLÉS OPÉRATIONNELS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A896"/>
                </a:solidFill>
              </a:rPr>
              <a:t>Riad de la Soutenance | Exercice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600200"/>
          </a:xfrm>
          <a:prstGeom prst="rect">
            <a:avLst/>
          </a:prstGeom>
          <a:solidFill>
            <a:srgbClr val="1E303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247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</a:rPr>
              <a:t>67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Environnement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D8"/>
                </a:solidFill>
              </a:rPr>
              <a:t>Niveau 3 - </a:t>
            </a:r>
            <a:r>
              <a:rPr lang="en-US" sz="900" dirty="0" err="1">
                <a:solidFill>
                  <a:srgbClr val="CBD5D8"/>
                </a:solidFill>
              </a:rPr>
              <a:t>Avancé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1600200"/>
          </a:xfrm>
          <a:prstGeom prst="rect">
            <a:avLst/>
          </a:prstGeom>
          <a:solidFill>
            <a:srgbClr val="1E303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1247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</a:rPr>
              <a:t>83,3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15468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Score RSE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Global 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D8"/>
                </a:solidFill>
              </a:rPr>
              <a:t>Niveau 4 - Leader RSE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1600200"/>
          </a:xfrm>
          <a:prstGeom prst="rect">
            <a:avLst/>
          </a:prstGeom>
          <a:solidFill>
            <a:srgbClr val="1E3035"/>
          </a:solidFill>
          <a:ln w="25400">
            <a:solidFill>
              <a:srgbClr val="F57F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1247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7F17"/>
                </a:solidFill>
              </a:rPr>
              <a:t>83%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3504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Gouvernance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D8"/>
                </a:solidFill>
              </a:rPr>
              <a:t>/100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651760" cy="1600200"/>
          </a:xfrm>
          <a:prstGeom prst="rect">
            <a:avLst/>
          </a:prstGeom>
          <a:solidFill>
            <a:srgbClr val="1E3035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0779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5100"/>
                </a:solidFill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7432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Emploi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local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D8"/>
                </a:solidFill>
              </a:rPr>
              <a:t>5 ETP (3 CDI, 2 CDD)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2834640"/>
            <a:ext cx="2651760" cy="1600200"/>
          </a:xfrm>
          <a:prstGeom prst="rect">
            <a:avLst/>
          </a:prstGeom>
          <a:solidFill>
            <a:srgbClr val="1E3035"/>
          </a:solidFill>
          <a:ln w="25400">
            <a:solidFill>
              <a:srgbClr val="452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90779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527A0"/>
                </a:solidFill>
              </a:rPr>
              <a:t>100%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15468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Achats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locaux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5468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D8"/>
                </a:solidFill>
              </a:rPr>
              <a:t>Fournisseurs &lt;100 km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2834640"/>
            <a:ext cx="2651760" cy="1600200"/>
          </a:xfrm>
          <a:prstGeom prst="rect">
            <a:avLst/>
          </a:prstGeom>
          <a:solidFill>
            <a:srgbClr val="1E3035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90779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A825"/>
                </a:solidFill>
              </a:rPr>
              <a:t>9,2/10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03504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Note OTA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Booking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D8"/>
                </a:solidFill>
              </a:rPr>
              <a:t>284 avis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5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2583180"/>
            <a:ext cx="3657600" cy="3657600"/>
          </a:xfrm>
          <a:prstGeom prst="ellipse">
            <a:avLst/>
          </a:prstGeom>
          <a:solidFill>
            <a:srgbClr val="028090">
              <a:alpha val="18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" y="3017520"/>
            <a:ext cx="4389120" cy="4389120"/>
          </a:xfrm>
          <a:prstGeom prst="ellipse">
            <a:avLst/>
          </a:prstGeom>
          <a:solidFill>
            <a:srgbClr val="028090">
              <a:alpha val="26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291840"/>
            <a:ext cx="5120640" cy="5120640"/>
          </a:xfrm>
          <a:prstGeom prst="ellipse">
            <a:avLst/>
          </a:prstGeom>
          <a:solidFill>
            <a:srgbClr val="028090">
              <a:alpha val="34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566160"/>
            <a:ext cx="5852160" cy="5852160"/>
          </a:xfrm>
          <a:prstGeom prst="ellipse">
            <a:avLst/>
          </a:prstGeom>
          <a:solidFill>
            <a:srgbClr val="028090">
              <a:alpha val="4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840480"/>
            <a:ext cx="6583680" cy="6583680"/>
          </a:xfrm>
          <a:prstGeom prst="ellipse">
            <a:avLst/>
          </a:prstGeom>
          <a:solidFill>
            <a:srgbClr val="028090">
              <a:alpha val="5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463040"/>
            <a:ext cx="2560320" cy="256032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9202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83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32004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2E4E8"/>
                </a:solidFill>
              </a:rPr>
              <a:t>/ 100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2E4E8"/>
                </a:solidFill>
              </a:rPr>
              <a:t>performance économique responsable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Riad de la Soutenance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0" y="1188720"/>
            <a:ext cx="548640" cy="54864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261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0" y="1645920"/>
            <a:ext cx="548640" cy="548640"/>
          </a:xfrm>
          <a:prstGeom prst="ellipse">
            <a:avLst/>
          </a:prstGeom>
          <a:solidFill>
            <a:srgbClr val="025A68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719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2194560"/>
            <a:ext cx="548640" cy="548640"/>
          </a:xfrm>
          <a:prstGeom prst="ellipse">
            <a:avLst/>
          </a:prstGeom>
          <a:solidFill>
            <a:srgbClr val="025A68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2677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55280" y="2651760"/>
            <a:ext cx="548640" cy="548640"/>
          </a:xfrm>
          <a:prstGeom prst="ellipse">
            <a:avLst/>
          </a:prstGeom>
          <a:solidFill>
            <a:srgbClr val="025A68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27249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3200400"/>
            <a:ext cx="548640" cy="548640"/>
          </a:xfrm>
          <a:prstGeom prst="ellipse">
            <a:avLst/>
          </a:prstGeom>
          <a:solidFill>
            <a:srgbClr val="025A68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3273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652</Words>
  <Application>Microsoft Macintosh PowerPoint</Application>
  <PresentationFormat>Affichage à l'écran (16:9)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Google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RSE – Riad Dar Zitoun – 2024</dc:title>
  <dc:subject>PptxGenJS Presentation</dc:subject>
  <dc:creator>PptxGenJS</dc:creator>
  <cp:lastModifiedBy>Meryem Ibrahym</cp:lastModifiedBy>
  <cp:revision>3</cp:revision>
  <dcterms:created xsi:type="dcterms:W3CDTF">2026-02-14T11:46:51Z</dcterms:created>
  <dcterms:modified xsi:type="dcterms:W3CDTF">2026-03-01T13:52:03Z</dcterms:modified>
</cp:coreProperties>
</file>